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0" y="2523744"/>
            <a:ext cx="9144000" cy="36600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0" y="4187952"/>
            <a:ext cx="9144000" cy="36600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5C6B3A">
              <a:alpha val="87843"/>
            </a:srgbClr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57200" y="5029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FLEETPULSE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1371599"/>
            <a:ext cx="6217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Real-time IoT Fleet Monitoring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50" y="1924815"/>
            <a:ext cx="3200400" cy="456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57200" y="2057422"/>
            <a:ext cx="594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2322576"/>
            <a:ext cx="2743200" cy="2925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8650" y="2354050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Aditi Mukherjee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286000" y="2386577"/>
            <a:ext cx="82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22051395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57200" y="2734052"/>
            <a:ext cx="2743200" cy="2925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48650" y="2734050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Puja Kumari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286000" y="2734052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22051446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3193401"/>
            <a:ext cx="2743200" cy="2742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48650" y="315682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Siddhi Shriya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286000" y="3156826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22051631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474725" y="2322576"/>
            <a:ext cx="2743200" cy="2925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566150" y="2322575"/>
            <a:ext cx="169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Subhamita Paul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03525" y="2286002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22051639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474725" y="2734052"/>
            <a:ext cx="2743200" cy="2925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566150" y="2809352"/>
            <a:ext cx="1691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Amrit Raj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303525" y="2734221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22053486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474725" y="3193401"/>
            <a:ext cx="2743200" cy="2742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66150" y="3156824"/>
            <a:ext cx="169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Samannyo Pal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303525" y="3156827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2228136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299450" y="3593600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Guide: Dr. Himanshu Ranjan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629400" y="1005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IoT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583680" y="18288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FLEET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83680" y="4526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66660"/>
                </a:solidFill>
                <a:latin typeface="Calibri"/>
                <a:ea typeface="Calibri"/>
                <a:cs typeface="Calibri"/>
                <a:sym typeface="Calibri"/>
              </a:rPr>
              <a:t>B.TECH · CSE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4324575" y="4231500"/>
            <a:ext cx="48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1698900" y="4551600"/>
            <a:ext cx="3479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AAAAAA"/>
                </a:solidFill>
              </a:rPr>
              <a:t>KIIT Deemed to be University</a:t>
            </a:r>
            <a:endParaRPr b="1" sz="900">
              <a:solidFill>
                <a:srgbClr val="AAAAA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rgbClr val="AAAAAA"/>
                </a:solidFill>
              </a:rPr>
              <a:t>School of Computer Engineering</a:t>
            </a:r>
            <a:endParaRPr b="1" sz="900">
              <a:solidFill>
                <a:srgbClr val="AAAAA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AAAAA"/>
                </a:solidFill>
              </a:rPr>
              <a:t>Bhubaneswar, ODISHA 751024</a:t>
            </a:r>
            <a:endParaRPr sz="650">
              <a:solidFill>
                <a:srgbClr val="AAAAA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AAAAA"/>
                </a:solidFill>
              </a:rPr>
              <a:t>April 2026</a:t>
            </a:r>
            <a:endParaRPr sz="650">
              <a:solidFill>
                <a:srgbClr val="AAAAA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975" y="3986763"/>
            <a:ext cx="1084051" cy="609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11480" y="5029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WHAT 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11480" y="9601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000"/>
              <a:buFont typeface="Arial Black"/>
              <a:buNone/>
            </a:pPr>
            <a:r>
              <a:rPr b="1" i="0" lang="en-US" sz="40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FLEETPULSE?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11480" y="1691640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Full-stack real-time IoT fleet monitoring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6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Tracks 12 Euler HiLoad EVs across Delhi NCR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6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Monitors SOC, speed, temperature, GPS — 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6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WebSocket-powered: no polling, no page refresh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3A36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Simulation engine — no physical hardware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11475" y="3589522"/>
            <a:ext cx="4389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LIVE SYSTEM READING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4023360"/>
            <a:ext cx="5486400" cy="932688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84050" y="4041650"/>
            <a:ext cx="5122800" cy="896100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1A18">
              <a:alpha val="94901"/>
            </a:srgbClr>
          </a:solidFill>
          <a:ln cap="flat" cmpd="sng" w="12700">
            <a:solidFill>
              <a:srgbClr val="1A1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852160" y="64008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852160" y="12070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EV Vehicles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852160" y="169164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852160" y="225856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Update Interval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852160" y="274320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852160" y="331012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Avg Fleet SOC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852160" y="379476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852160" y="436168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Active Alerts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1480" y="4919472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800"/>
              <a:buFont typeface="Calibri"/>
              <a:buNone/>
            </a:pPr>
            <a:r>
              <a:rPr b="0" i="1" lang="en-US" sz="11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↑ Live dashboard reading: 12 vehicles active, 0 alerts firing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3964675"/>
            <a:ext cx="5122800" cy="991375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THE CHALLENGE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" y="1261872"/>
            <a:ext cx="38404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11480" y="1261872"/>
            <a:ext cx="54864" cy="329184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94360" y="1353312"/>
            <a:ext cx="34747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94360" y="1783080"/>
            <a:ext cx="3474720" cy="502920"/>
          </a:xfrm>
          <a:prstGeom prst="rect">
            <a:avLst/>
          </a:prstGeom>
          <a:solidFill>
            <a:srgbClr val="FDF0EE"/>
          </a:solidFill>
          <a:ln cap="flat" cmpd="sng" w="9525">
            <a:solidFill>
              <a:srgbClr val="E8C8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713232" y="180136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0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3030"/>
                </a:solidFill>
                <a:latin typeface="Calibri"/>
                <a:ea typeface="Calibri"/>
                <a:cs typeface="Calibri"/>
                <a:sym typeface="Calibri"/>
              </a:rPr>
              <a:t>No real-time vehicle tracking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94360" y="2404872"/>
            <a:ext cx="3474720" cy="502920"/>
          </a:xfrm>
          <a:prstGeom prst="rect">
            <a:avLst/>
          </a:prstGeom>
          <a:solidFill>
            <a:srgbClr val="FDF0EE"/>
          </a:solidFill>
          <a:ln cap="flat" cmpd="sng" w="9525">
            <a:solidFill>
              <a:srgbClr val="E8C8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13232" y="24231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0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3030"/>
                </a:solidFill>
                <a:latin typeface="Calibri"/>
                <a:ea typeface="Calibri"/>
                <a:cs typeface="Calibri"/>
                <a:sym typeface="Calibri"/>
              </a:rPr>
              <a:t>Delayed fault/alert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94360" y="3026664"/>
            <a:ext cx="3474720" cy="502920"/>
          </a:xfrm>
          <a:prstGeom prst="rect">
            <a:avLst/>
          </a:prstGeom>
          <a:solidFill>
            <a:srgbClr val="FDF0EE"/>
          </a:solidFill>
          <a:ln cap="flat" cmpd="sng" w="9525">
            <a:solidFill>
              <a:srgbClr val="E8C8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13232" y="304495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0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3030"/>
                </a:solidFill>
                <a:latin typeface="Calibri"/>
                <a:ea typeface="Calibri"/>
                <a:cs typeface="Calibri"/>
                <a:sym typeface="Calibri"/>
              </a:rPr>
              <a:t>Batch-based, interval monitoring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94360" y="3648456"/>
            <a:ext cx="3474720" cy="502920"/>
          </a:xfrm>
          <a:prstGeom prst="rect">
            <a:avLst/>
          </a:prstGeom>
          <a:solidFill>
            <a:srgbClr val="FDF0EE"/>
          </a:solidFill>
          <a:ln cap="flat" cmpd="sng" w="9525">
            <a:solidFill>
              <a:srgbClr val="E8C8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13232" y="3666744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0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3030"/>
                </a:solidFill>
                <a:latin typeface="Calibri"/>
                <a:ea typeface="Calibri"/>
                <a:cs typeface="Calibri"/>
                <a:sym typeface="Calibri"/>
              </a:rPr>
              <a:t>No central visibility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754880" y="1261872"/>
            <a:ext cx="397764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754880" y="1261872"/>
            <a:ext cx="54864" cy="32918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937760" y="1353312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FLEETPULSE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937760" y="1783080"/>
            <a:ext cx="3520440" cy="502920"/>
          </a:xfrm>
          <a:prstGeom prst="rect">
            <a:avLst/>
          </a:prstGeom>
          <a:solidFill>
            <a:srgbClr val="EEF2E8"/>
          </a:solidFill>
          <a:ln cap="flat" cmpd="sng" w="9525">
            <a:solidFill>
              <a:srgbClr val="C4D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047488" y="180136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C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C1A"/>
                </a:solidFill>
                <a:latin typeface="Calibri"/>
                <a:ea typeface="Calibri"/>
                <a:cs typeface="Calibri"/>
                <a:sym typeface="Calibri"/>
              </a:rPr>
              <a:t>Continuous telemetry streaming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937760" y="2404872"/>
            <a:ext cx="3520440" cy="502920"/>
          </a:xfrm>
          <a:prstGeom prst="rect">
            <a:avLst/>
          </a:prstGeom>
          <a:solidFill>
            <a:srgbClr val="EEF2E8"/>
          </a:solidFill>
          <a:ln cap="flat" cmpd="sng" w="9525">
            <a:solidFill>
              <a:srgbClr val="C4D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047488" y="24231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C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C1A"/>
                </a:solidFill>
                <a:latin typeface="Calibri"/>
                <a:ea typeface="Calibri"/>
                <a:cs typeface="Calibri"/>
                <a:sym typeface="Calibri"/>
              </a:rPr>
              <a:t>Instant automated alerts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937760" y="3026664"/>
            <a:ext cx="3520440" cy="502920"/>
          </a:xfrm>
          <a:prstGeom prst="rect">
            <a:avLst/>
          </a:prstGeom>
          <a:solidFill>
            <a:srgbClr val="EEF2E8"/>
          </a:solidFill>
          <a:ln cap="flat" cmpd="sng" w="9525">
            <a:solidFill>
              <a:srgbClr val="C4D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047488" y="30449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C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C1A"/>
                </a:solidFill>
                <a:latin typeface="Calibri"/>
                <a:ea typeface="Calibri"/>
                <a:cs typeface="Calibri"/>
                <a:sym typeface="Calibri"/>
              </a:rPr>
              <a:t>WebSocket push — zero polling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937760" y="3648456"/>
            <a:ext cx="3520440" cy="502920"/>
          </a:xfrm>
          <a:prstGeom prst="rect">
            <a:avLst/>
          </a:prstGeom>
          <a:solidFill>
            <a:srgbClr val="EEF2E8"/>
          </a:solidFill>
          <a:ln cap="flat" cmpd="sng" w="9525">
            <a:solidFill>
              <a:srgbClr val="C4D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047488" y="366674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C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C1A"/>
                </a:solidFill>
                <a:latin typeface="Calibri"/>
                <a:ea typeface="Calibri"/>
                <a:cs typeface="Calibri"/>
                <a:sym typeface="Calibri"/>
              </a:rPr>
              <a:t>Unified analytics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11480" y="473659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"Traditional systems fail to provide instant visibility of fleet health."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11480" y="47548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PROJECT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11480" y="932688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OBJECTIVES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11480" y="160020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11480" y="160020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208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1106424" y="173736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Real-Time Telemetry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106424" y="211226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WebSocket push every 2 seconds per vehicle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291840" y="160020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291840" y="160020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20208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3986784" y="173736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EV Metrics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986784" y="211226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SOC, speed, temperature, GPS — all 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172200" y="160020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172200" y="160020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20208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>
            <a:off x="6867144" y="173736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Automated Alert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867144" y="211226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Threshold-based: speed, temperature, SOC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11480" y="301752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11480" y="301752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3438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1106424" y="315468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106424" y="352958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Recharts visualizations + KPI panels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291840" y="301752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291840" y="301752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3280" y="3438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/>
          <p:nvPr/>
        </p:nvSpPr>
        <p:spPr>
          <a:xfrm>
            <a:off x="3986784" y="315468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Simulation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986784" y="352958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Test without physical IoT hardware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172200" y="3017520"/>
            <a:ext cx="2697480" cy="1261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172200" y="3017520"/>
            <a:ext cx="566928" cy="12618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3640" y="3438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/>
          <p:nvPr/>
        </p:nvSpPr>
        <p:spPr>
          <a:xfrm>
            <a:off x="6867144" y="3154680"/>
            <a:ext cx="1892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Dual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867144" y="3529584"/>
            <a:ext cx="1892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PostgreSQL + in-memory fallback mode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11480" y="46817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"Combines monitoring, simulation, and analytics in a single platform."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11480" y="438912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 Black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11480" y="978408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5000"/>
              <a:buFont typeface="Arial Black"/>
              <a:buNone/>
            </a:pPr>
            <a:r>
              <a:rPr b="1" i="0" lang="en-US" sz="50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OVERVIEW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11480" y="1828800"/>
            <a:ext cx="4160520" cy="603504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411480" y="1828800"/>
            <a:ext cx="64008" cy="603504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594360" y="186537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94360" y="208483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Euler HiLoad EVs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11480" y="2542032"/>
            <a:ext cx="4160520" cy="603504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11480" y="2542032"/>
            <a:ext cx="64008" cy="603504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94360" y="25786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94360" y="27980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Delhi NCR — 5 zone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11480" y="3255264"/>
            <a:ext cx="4160520" cy="603504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11480" y="3255264"/>
            <a:ext cx="64008" cy="603504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594360" y="32918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UPDATE 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94360" y="35112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2 seconds / vehicle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11480" y="3968496"/>
            <a:ext cx="4160520" cy="603504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11480" y="3968496"/>
            <a:ext cx="64008" cy="603504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594360" y="40050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THRESHOLDS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94360" y="42245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 · Temperature · SOC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572000" y="1465900"/>
            <a:ext cx="4572000" cy="221160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736576" y="1484175"/>
            <a:ext cx="4389000" cy="2175000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11618"/>
            <a:ext cx="4572000" cy="212026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4663440" y="3220402"/>
            <a:ext cx="2926080" cy="3474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754880" y="325697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 Live: 12 devices, 33 km/h avg, 0 active alerts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11480" y="48280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"Real-time dashboard running live with simulation engine active"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1148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SYSTEM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1148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ARCHITECTURE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11480" y="1600200"/>
            <a:ext cx="8321040" cy="5486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548640" y="165506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48640" y="1901952"/>
            <a:ext cx="7589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CC"/>
                </a:solidFill>
                <a:latin typeface="Calibri"/>
                <a:ea typeface="Calibri"/>
                <a:cs typeface="Calibri"/>
                <a:sym typeface="Calibri"/>
              </a:rPr>
              <a:t>React · Next.js · Tailwind CSS · Leaflet.js · Recharts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4632" y="2258568"/>
            <a:ext cx="8183880" cy="548640"/>
          </a:xfrm>
          <a:prstGeom prst="rect">
            <a:avLst/>
          </a:prstGeom>
          <a:solidFill>
            <a:srgbClr val="7B6F5E">
              <a:alpha val="90196"/>
            </a:srgbClr>
          </a:solidFill>
          <a:ln cap="flat" cmpd="sng" w="12700">
            <a:solidFill>
              <a:srgbClr val="7B6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21792" y="2313432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21792" y="2560320"/>
            <a:ext cx="7589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CC"/>
                </a:solidFill>
                <a:latin typeface="Calibri"/>
                <a:ea typeface="Calibri"/>
                <a:cs typeface="Calibri"/>
                <a:sym typeface="Calibri"/>
              </a:rPr>
              <a:t>Next.js App Router · REST Endpoints · Zod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57784" y="2916936"/>
            <a:ext cx="8046720" cy="548640"/>
          </a:xfrm>
          <a:prstGeom prst="rect">
            <a:avLst/>
          </a:prstGeom>
          <a:solidFill>
            <a:srgbClr val="6B8A6B">
              <a:alpha val="80000"/>
            </a:srgbClr>
          </a:solidFill>
          <a:ln cap="flat" cmpd="sng" w="12700">
            <a:solidFill>
              <a:srgbClr val="6B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694944" y="2971800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94944" y="3218688"/>
            <a:ext cx="7589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CC"/>
                </a:solidFill>
                <a:latin typeface="Calibri"/>
                <a:ea typeface="Calibri"/>
                <a:cs typeface="Calibri"/>
                <a:sym typeface="Calibri"/>
              </a:rPr>
              <a:t>Socket.IO 4.7.x · WebSocket · Room-based Broadcasts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30936" y="3575304"/>
            <a:ext cx="7909560" cy="548640"/>
          </a:xfrm>
          <a:prstGeom prst="rect">
            <a:avLst/>
          </a:prstGeom>
          <a:solidFill>
            <a:srgbClr val="8A7A6B">
              <a:alpha val="70196"/>
            </a:srgbClr>
          </a:solidFill>
          <a:ln cap="flat" cmpd="sng" w="12700">
            <a:solidFill>
              <a:srgbClr val="8A7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768096" y="3630168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ACCESS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768096" y="3877056"/>
            <a:ext cx="7589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CC"/>
                </a:solidFill>
                <a:latin typeface="Calibri"/>
                <a:ea typeface="Calibri"/>
                <a:cs typeface="Calibri"/>
                <a:sym typeface="Calibri"/>
              </a:rPr>
              <a:t>db-devices · db-telemetry · db-alerts · In-memory Fallback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704088" y="4233672"/>
            <a:ext cx="7772400" cy="548640"/>
          </a:xfrm>
          <a:prstGeom prst="rect">
            <a:avLst/>
          </a:prstGeom>
          <a:solidFill>
            <a:srgbClr val="4A4637">
              <a:alpha val="60000"/>
            </a:srgbClr>
          </a:solidFill>
          <a:ln cap="flat" cmpd="sng" w="12700">
            <a:solidFill>
              <a:srgbClr val="4A46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841248" y="4288536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PERSISTENCE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841248" y="4535424"/>
            <a:ext cx="7589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CC"/>
                </a:solidFill>
                <a:latin typeface="Calibri"/>
                <a:ea typeface="Calibri"/>
                <a:cs typeface="Calibri"/>
                <a:sym typeface="Calibri"/>
              </a:rPr>
              <a:t>PostgreSQL 14+ · PostGIS 3.x · Connection Pool (pg)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11480" y="477316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"Single HTTP server handles REST APIs and WebSocket · Dual storage: PostgreSQL + in-memory fallback"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11480" y="475488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TECHNOLOGY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11480" y="93268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STACK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11480" y="1600200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11480" y="1600200"/>
            <a:ext cx="2697480" cy="384048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521208" y="1627632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94360" y="208483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Next.js 15.2.4 (App Router)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21208" y="2487168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94360" y="252374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React 19.x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21208" y="2926080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594360" y="2962656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Tailwind CSS 3.4.17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21208" y="3364992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94360" y="34015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Radix UI + shadcn/ui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21208" y="3803904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94360" y="38404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Leaflet.js + OpenStreetMap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521208" y="4242816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594360" y="427939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Recharts 2.12.0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291840" y="1600200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3291840" y="1600200"/>
            <a:ext cx="2697480" cy="384048"/>
          </a:xfrm>
          <a:prstGeom prst="rect">
            <a:avLst/>
          </a:prstGeom>
          <a:solidFill>
            <a:srgbClr val="7B6F5E"/>
          </a:solidFill>
          <a:ln cap="flat" cmpd="sng" w="12700">
            <a:solidFill>
              <a:srgbClr val="7B6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401568" y="1627632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474720" y="208483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Node.js 18+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3401568" y="2487168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3474720" y="252374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Next.js API Routes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401568" y="2926080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3474720" y="2962656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Socket.IO 4.7.x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3401568" y="3364992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3474720" y="34015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Custom HTTP Server (tsx)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401568" y="3803904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3474720" y="38404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Zod 3.24.1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401568" y="4242816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3474720" y="427939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React Hook Form 7.54.1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172200" y="1600200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172200" y="1600200"/>
            <a:ext cx="2697480" cy="384048"/>
          </a:xfrm>
          <a:prstGeom prst="rect">
            <a:avLst/>
          </a:prstGeom>
          <a:solidFill>
            <a:srgbClr val="4A4637"/>
          </a:solidFill>
          <a:ln cap="flat" cmpd="sng" w="12700">
            <a:solidFill>
              <a:srgbClr val="4A46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281928" y="1627632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6355080" y="208483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PostgreSQL 14+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281928" y="2487168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6355080" y="252374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PostGIS 3.x (Geospatial)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281928" y="2926080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6355080" y="2962656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pg (node-postgres) 8.11.3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6281928" y="3364992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6355080" y="340156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In-memory Fallback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6281928" y="3803904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6355080" y="384048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LATERAL JOIN + DISTINCT 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281928" y="4242816"/>
            <a:ext cx="2468880" cy="9144"/>
          </a:xfrm>
          <a:prstGeom prst="rect">
            <a:avLst/>
          </a:prstGeom>
          <a:solidFill>
            <a:srgbClr val="C8C3B8">
              <a:alpha val="70196"/>
            </a:srgbClr>
          </a:solidFill>
          <a:ln cap="flat" cmpd="sng" w="12700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6355080" y="427939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Connection Pool (max: 20)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11480" y="477316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"Modern full-stack technologies ensure scalability and real-time performance."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SIMULATION ENGINE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11480" y="47548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SIMULATION ENGINE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11480" y="1170432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411480" y="1170432"/>
            <a:ext cx="2011680" cy="4572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484632" y="1197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960120" y="12252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02920" y="1709928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Gaussian drift · NCR bounds · Route-type multipliers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2587752" y="1170432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2587752" y="1170432"/>
            <a:ext cx="2011680" cy="457200"/>
          </a:xfrm>
          <a:prstGeom prst="rect">
            <a:avLst/>
          </a:prstGeom>
          <a:solidFill>
            <a:srgbClr val="7B6F5E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2660904" y="1197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136392" y="12252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679192" y="1709928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22 km/h downtown · 55 km/h highway · ±6 km/h variation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764024" y="1170432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4764024" y="1170432"/>
            <a:ext cx="2011680" cy="4572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4837176" y="1197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5312664" y="12252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855464" y="1709928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33°C ambient + speed×0.22 · Clamped 26–58°C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6940296" y="1170432"/>
            <a:ext cx="20116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6940296" y="1170432"/>
            <a:ext cx="2011680" cy="457200"/>
          </a:xfrm>
          <a:prstGeom prst="rect">
            <a:avLst/>
          </a:prstGeom>
          <a:solidFill>
            <a:srgbClr val="7B6F5E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7013448" y="11978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7488936" y="12252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7031736" y="1709928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Drains w/ speed · Auto-recharge below 8% SOC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65760" y="2834640"/>
            <a:ext cx="8412480" cy="205740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384048" y="2852928"/>
            <a:ext cx="8375904" cy="2020824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0"/>
          <p:cNvPicPr preferRelativeResize="0"/>
          <p:nvPr/>
        </p:nvPicPr>
        <p:blipFill rotWithShape="1">
          <a:blip r:embed="rId3">
            <a:alphaModFix/>
          </a:blip>
          <a:srcRect b="-2068" l="0" r="0" t="0"/>
          <a:stretch/>
        </p:blipFill>
        <p:spPr>
          <a:xfrm>
            <a:off x="411480" y="2880360"/>
            <a:ext cx="8321040" cy="200661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0"/>
          <p:cNvSpPr/>
          <p:nvPr/>
        </p:nvSpPr>
        <p:spPr>
          <a:xfrm>
            <a:off x="502920" y="2907792"/>
            <a:ext cx="3657600" cy="3474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594360" y="29443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 Simulation running: 33 km/h avg · 36°C · 61% SOC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411480" y="489204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"Enables realistic EV fleet behavior without physical IoT hardware"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8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REAL-TIME COMMUNICATION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11480" y="47548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REAL-TIME COMMUNICATION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11480" y="98755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8C3B8"/>
                </a:solidFill>
                <a:latin typeface="Calibri"/>
                <a:ea typeface="Calibri"/>
                <a:cs typeface="Calibri"/>
                <a:sym typeface="Calibri"/>
              </a:rPr>
              <a:t>Socket.IO · WebSocket · Live 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11480" y="1737360"/>
            <a:ext cx="4206240" cy="6858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015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411480" y="1737360"/>
            <a:ext cx="64008" cy="6858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594360" y="17739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telemetry-update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594360" y="20299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BBAA"/>
                </a:solidFill>
                <a:latin typeface="Calibri"/>
                <a:ea typeface="Calibri"/>
                <a:cs typeface="Calibri"/>
                <a:sym typeface="Calibri"/>
              </a:rPr>
              <a:t>New sensor readings → all clients + device room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411480" y="2542032"/>
            <a:ext cx="4206240" cy="6858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015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411480" y="2542032"/>
            <a:ext cx="64008" cy="6858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594360" y="257860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594360" y="2834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BBAA"/>
                </a:solidFill>
                <a:latin typeface="Calibri"/>
                <a:ea typeface="Calibri"/>
                <a:cs typeface="Calibri"/>
                <a:sym typeface="Calibri"/>
              </a:rPr>
              <a:t>Threshold breach → all clients + device room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411480" y="3346704"/>
            <a:ext cx="4206240" cy="68580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015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411480" y="3346704"/>
            <a:ext cx="64008" cy="68580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594360" y="33832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device-registered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594360" y="36393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BBBAA"/>
                </a:solidFill>
                <a:latin typeface="Calibri"/>
                <a:ea typeface="Calibri"/>
                <a:cs typeface="Calibri"/>
                <a:sym typeface="Calibri"/>
              </a:rPr>
              <a:t>New vehicle joins fleet → all clients notified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457200" y="4251960"/>
            <a:ext cx="1261872" cy="621792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457200" y="4251960"/>
            <a:ext cx="1261872" cy="621792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457200" y="4251960"/>
            <a:ext cx="1261872" cy="621792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457200" y="4251960"/>
            <a:ext cx="1298448" cy="59436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502920" y="427024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Push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502920" y="450799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 client polling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1874520" y="4251960"/>
            <a:ext cx="1298448" cy="59436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1920240" y="427024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Room-Based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1920240" y="450799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Per-device updates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3291840" y="4251960"/>
            <a:ext cx="1298448" cy="59436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9525">
            <a:solidFill>
              <a:srgbClr val="5C6B3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3337560" y="427024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60s Cooldown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3337560" y="450799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Client-side dedup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4434840" y="1078203"/>
            <a:ext cx="4480560" cy="3169973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4453128" y="1096491"/>
            <a:ext cx="4443984" cy="3133397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1123923"/>
            <a:ext cx="4389120" cy="307853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1"/>
          <p:cNvSpPr/>
          <p:nvPr/>
        </p:nvSpPr>
        <p:spPr>
          <a:xfrm>
            <a:off x="4572000" y="3818409"/>
            <a:ext cx="3200400" cy="3474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4663440" y="3854985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 12 device cards updating live via Socket.IO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8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DASHBOARD &amp; VISUALIZATION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DASHBOARD &amp;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411480" y="868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VISUALIZATION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365760" y="1527048"/>
            <a:ext cx="4526280" cy="2092662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384048" y="1545336"/>
            <a:ext cx="4489704" cy="2056086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3" name="Google Shape;5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434840" cy="200122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2"/>
          <p:cNvSpPr/>
          <p:nvPr/>
        </p:nvSpPr>
        <p:spPr>
          <a:xfrm>
            <a:off x="502920" y="3208230"/>
            <a:ext cx="2926080" cy="3474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594360" y="324480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 Live Fleet Map — color-coded markers + popup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411480" y="3756870"/>
            <a:ext cx="4434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Leaflet.js + OpenStreetMap tiles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Green/amber/red status markers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Popup: SOC, speed, range, GPS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4709160" y="1527048"/>
            <a:ext cx="4114800" cy="338328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4727448" y="1545336"/>
            <a:ext cx="4078224" cy="3346704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12"/>
          <p:cNvPicPr preferRelativeResize="0"/>
          <p:nvPr/>
        </p:nvPicPr>
        <p:blipFill rotWithShape="1">
          <a:blip r:embed="rId4">
            <a:alphaModFix/>
          </a:blip>
          <a:srcRect b="-11330" l="0" r="0" t="0"/>
          <a:stretch/>
        </p:blipFill>
        <p:spPr>
          <a:xfrm>
            <a:off x="4754880" y="1572768"/>
            <a:ext cx="4023360" cy="366479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2"/>
          <p:cNvSpPr/>
          <p:nvPr/>
        </p:nvSpPr>
        <p:spPr>
          <a:xfrm>
            <a:off x="4846320" y="4498848"/>
            <a:ext cx="2926080" cy="34747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4937760" y="45354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 Analytics: Fleet health 69 · SOC bands · Speed dist.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4754880" y="5047488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Fleet efficiency · SOC distribution chart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Speed &amp; temperature trend 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Zone coverage + vehicle range ranking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41148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"Real-time UI updates without page refresh · Two-panel view: Map + Analytics"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RESULTS — LIVE SYSTEM PROOF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411480" y="402336"/>
            <a:ext cx="3337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LIVE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411480" y="804672"/>
            <a:ext cx="3337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PROOF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4114800" y="301752"/>
            <a:ext cx="4754880" cy="4617720"/>
          </a:xfrm>
          <a:prstGeom prst="rect">
            <a:avLst/>
          </a:prstGeom>
          <a:solidFill>
            <a:srgbClr val="5C6B3A">
              <a:alpha val="25098"/>
            </a:srgbClr>
          </a:solidFill>
          <a:ln cap="flat" cmpd="sng" w="12700">
            <a:solidFill>
              <a:srgbClr val="5C6B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4133088" y="320040"/>
            <a:ext cx="4718304" cy="4581144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3333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6" name="Google Shape;586;p13"/>
          <p:cNvPicPr preferRelativeResize="0"/>
          <p:nvPr/>
        </p:nvPicPr>
        <p:blipFill rotWithShape="1">
          <a:blip r:embed="rId3">
            <a:alphaModFix/>
          </a:blip>
          <a:srcRect b="-21181" l="0" r="-5882" t="0"/>
          <a:stretch/>
        </p:blipFill>
        <p:spPr>
          <a:xfrm>
            <a:off x="4160520" y="347472"/>
            <a:ext cx="4937760" cy="548500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3"/>
          <p:cNvSpPr/>
          <p:nvPr/>
        </p:nvSpPr>
        <p:spPr>
          <a:xfrm>
            <a:off x="411480" y="1508760"/>
            <a:ext cx="32461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411480" y="1508760"/>
            <a:ext cx="64008" cy="71323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94360" y="15544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75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1645920" y="15819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Battery Health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1645920" y="1874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Real-time fleet health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411480" y="2313432"/>
            <a:ext cx="32461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411480" y="2313432"/>
            <a:ext cx="64008" cy="71323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594360" y="2359152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61%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1645920" y="2386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Avg Fleet SOC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1645920" y="26791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2 vehicles in critical band (&lt;20%)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411480" y="3118104"/>
            <a:ext cx="32461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411480" y="3118104"/>
            <a:ext cx="64008" cy="71323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594360" y="3163824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9/12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1645920" y="3191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Vehicles Online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1645920" y="34838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75% fleet uptime —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411480" y="3922776"/>
            <a:ext cx="32461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411480" y="3922776"/>
            <a:ext cx="64008" cy="713232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594360" y="3968496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1645920" y="39959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4637"/>
                </a:solidFill>
                <a:latin typeface="Calibri"/>
                <a:ea typeface="Calibri"/>
                <a:cs typeface="Calibri"/>
                <a:sym typeface="Calibri"/>
              </a:rPr>
              <a:t>Active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1645920" y="42885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All thresholds nominal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411480" y="47731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← All figures read directly from the live analytics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4DC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4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D8D4CC">
              <a:alpha val="70196"/>
            </a:srgbClr>
          </a:solidFill>
          <a:ln cap="flat" cmpd="sng" w="12700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RESULTS &amp; OUTCOMES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411480" y="43891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637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4A4637"/>
                </a:solidFill>
                <a:latin typeface="Arial Black"/>
                <a:ea typeface="Arial Black"/>
                <a:cs typeface="Arial Black"/>
                <a:sym typeface="Arial Black"/>
              </a:rPr>
              <a:t>RESULTS &amp;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411480" y="896112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OUTCOMES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411480" y="1627632"/>
            <a:ext cx="8321040" cy="347472"/>
          </a:xfrm>
          <a:prstGeom prst="rect">
            <a:avLst/>
          </a:prstGeom>
          <a:solidFill>
            <a:srgbClr val="4A4637"/>
          </a:solidFill>
          <a:ln cap="flat" cmpd="sng" w="12700">
            <a:solidFill>
              <a:srgbClr val="4A46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548640" y="16642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3657600" y="1664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5303520" y="16642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411480" y="2011680"/>
            <a:ext cx="8321040" cy="438912"/>
          </a:xfrm>
          <a:prstGeom prst="rect">
            <a:avLst/>
          </a:prstGeom>
          <a:solidFill>
            <a:srgbClr val="F4F1EB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548640" y="208483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Real-Time Telemetry Updates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3657600" y="20848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5303520" y="208483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WebSocket push every 2 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411480" y="2487168"/>
            <a:ext cx="8321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548640" y="256032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Automated Alert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3657600" y="25603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5303520" y="2560320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Speed, temperature, SOC thresholds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411480" y="2962656"/>
            <a:ext cx="8321040" cy="438912"/>
          </a:xfrm>
          <a:prstGeom prst="rect">
            <a:avLst/>
          </a:prstGeom>
          <a:solidFill>
            <a:srgbClr val="F4F1EB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548640" y="303580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Interactive Fleet 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3657600" y="303580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5303520" y="303580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Leaflet + live marker updates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4"/>
          <p:cNvSpPr/>
          <p:nvPr/>
        </p:nvSpPr>
        <p:spPr>
          <a:xfrm>
            <a:off x="411480" y="3438144"/>
            <a:ext cx="8321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4"/>
          <p:cNvSpPr/>
          <p:nvPr/>
        </p:nvSpPr>
        <p:spPr>
          <a:xfrm>
            <a:off x="548640" y="351129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Analytics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3657600" y="351129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4"/>
          <p:cNvSpPr/>
          <p:nvPr/>
        </p:nvSpPr>
        <p:spPr>
          <a:xfrm>
            <a:off x="5303520" y="351129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Recharts KPIs + fleet health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411480" y="3913632"/>
            <a:ext cx="8321040" cy="438912"/>
          </a:xfrm>
          <a:prstGeom prst="rect">
            <a:avLst/>
          </a:prstGeom>
          <a:solidFill>
            <a:srgbClr val="F4F1EB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4"/>
          <p:cNvSpPr/>
          <p:nvPr/>
        </p:nvSpPr>
        <p:spPr>
          <a:xfrm>
            <a:off x="548640" y="398678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Simulation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3657600" y="398678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/>
          <p:nvPr/>
        </p:nvSpPr>
        <p:spPr>
          <a:xfrm>
            <a:off x="5303520" y="3986784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No hardware needed — EV behavioral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411480" y="4389120"/>
            <a:ext cx="832104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548640" y="446227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3630"/>
                </a:solidFill>
                <a:latin typeface="Calibri"/>
                <a:ea typeface="Calibri"/>
                <a:cs typeface="Calibri"/>
                <a:sym typeface="Calibri"/>
              </a:rPr>
              <a:t>Dual Storage 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3657600" y="446227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✓ Implemented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5303520" y="446227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8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6860"/>
                </a:solidFill>
                <a:latin typeface="Calibri"/>
                <a:ea typeface="Calibri"/>
                <a:cs typeface="Calibri"/>
                <a:sym typeface="Calibri"/>
              </a:rPr>
              <a:t>PostgreSQL + in-memory fallback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411480" y="477316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"System handled continuous real-time updates efficiently across all 12 simulated vehicles."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8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5"/>
          <p:cNvSpPr/>
          <p:nvPr/>
        </p:nvSpPr>
        <p:spPr>
          <a:xfrm>
            <a:off x="0" y="-91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0" y="14630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0" y="38404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0" y="85953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0" y="133502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0" y="157276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0" y="181051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0" y="204825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0" y="252374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0" y="276148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0" y="299923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0" y="323697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0" y="371246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0" y="3950208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0" y="4187952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0" y="4425696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2A2620">
              <a:alpha val="80000"/>
            </a:srgbClr>
          </a:solidFill>
          <a:ln cap="flat" cmpd="sng" w="12700">
            <a:solidFill>
              <a:srgbClr val="2A2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365760" y="16459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411480" y="438912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411480" y="96012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5C6B3A"/>
                </a:solidFill>
                <a:latin typeface="Arial Black"/>
                <a:ea typeface="Arial Black"/>
                <a:cs typeface="Arial Black"/>
                <a:sym typeface="Arial Black"/>
              </a:rPr>
              <a:t>FUTURE SCOPE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411480" y="166420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411480" y="1993392"/>
            <a:ext cx="3931920" cy="5486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411480" y="1993392"/>
            <a:ext cx="64008" cy="5486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566928" y="20299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 real-time IoT platform — production aware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411480" y="2651760"/>
            <a:ext cx="3931920" cy="5486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411480" y="2651760"/>
            <a:ext cx="64008" cy="5486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566928" y="268833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 storage: instantly demoable + database-ready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5"/>
          <p:cNvSpPr/>
          <p:nvPr/>
        </p:nvSpPr>
        <p:spPr>
          <a:xfrm>
            <a:off x="411480" y="3310128"/>
            <a:ext cx="3931920" cy="5486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411480" y="3310128"/>
            <a:ext cx="64008" cy="5486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566928" y="3346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type safety: TypeScript + Zod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5"/>
          <p:cNvSpPr/>
          <p:nvPr/>
        </p:nvSpPr>
        <p:spPr>
          <a:xfrm>
            <a:off x="411480" y="3968496"/>
            <a:ext cx="3931920" cy="5486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411480" y="3968496"/>
            <a:ext cx="64008" cy="548640"/>
          </a:xfrm>
          <a:prstGeom prst="rect">
            <a:avLst/>
          </a:prstGeom>
          <a:solidFill>
            <a:srgbClr val="5C6B3A"/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566928" y="40050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Modular, scalable architecture with clean separation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/>
          <p:nvPr/>
        </p:nvSpPr>
        <p:spPr>
          <a:xfrm>
            <a:off x="4846320" y="166420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F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6F5E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4846320" y="1993392"/>
            <a:ext cx="3886200" cy="475488"/>
          </a:xfrm>
          <a:prstGeom prst="rect">
            <a:avLst/>
          </a:prstGeom>
          <a:solidFill>
            <a:srgbClr val="5C6B3A">
              <a:alpha val="20000"/>
            </a:srgbClr>
          </a:solidFill>
          <a:ln cap="flat" cmpd="sng" w="9525">
            <a:solidFill>
              <a:srgbClr val="5C6B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4983480" y="202082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 Device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4983480" y="224028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Replace simulation with real hardware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/>
          <p:nvPr/>
        </p:nvSpPr>
        <p:spPr>
          <a:xfrm>
            <a:off x="4846320" y="2542032"/>
            <a:ext cx="3886200" cy="475488"/>
          </a:xfrm>
          <a:prstGeom prst="rect">
            <a:avLst/>
          </a:prstGeom>
          <a:solidFill>
            <a:srgbClr val="5C6B3A">
              <a:alpha val="20000"/>
            </a:srgbClr>
          </a:solidFill>
          <a:ln cap="flat" cmpd="sng" w="9525">
            <a:solidFill>
              <a:srgbClr val="5C6B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5"/>
          <p:cNvSpPr/>
          <p:nvPr/>
        </p:nvSpPr>
        <p:spPr>
          <a:xfrm>
            <a:off x="4983480" y="256946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4983480" y="278892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React Native app for drivers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4846320" y="3090672"/>
            <a:ext cx="3886200" cy="475488"/>
          </a:xfrm>
          <a:prstGeom prst="rect">
            <a:avLst/>
          </a:prstGeom>
          <a:solidFill>
            <a:srgbClr val="5C6B3A">
              <a:alpha val="20000"/>
            </a:srgbClr>
          </a:solidFill>
          <a:ln cap="flat" cmpd="sng" w="9525">
            <a:solidFill>
              <a:srgbClr val="5C6B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5"/>
          <p:cNvSpPr/>
          <p:nvPr/>
        </p:nvSpPr>
        <p:spPr>
          <a:xfrm>
            <a:off x="4983480" y="311810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Predictive Maintenance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5"/>
          <p:cNvSpPr/>
          <p:nvPr/>
        </p:nvSpPr>
        <p:spPr>
          <a:xfrm>
            <a:off x="4983480" y="333756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ML model on telemetry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5"/>
          <p:cNvSpPr/>
          <p:nvPr/>
        </p:nvSpPr>
        <p:spPr>
          <a:xfrm>
            <a:off x="4846320" y="3639312"/>
            <a:ext cx="3886200" cy="475488"/>
          </a:xfrm>
          <a:prstGeom prst="rect">
            <a:avLst/>
          </a:prstGeom>
          <a:solidFill>
            <a:srgbClr val="5C6B3A">
              <a:alpha val="20000"/>
            </a:srgbClr>
          </a:solidFill>
          <a:ln cap="flat" cmpd="sng" w="9525">
            <a:solidFill>
              <a:srgbClr val="5C6B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5"/>
          <p:cNvSpPr/>
          <p:nvPr/>
        </p:nvSpPr>
        <p:spPr>
          <a:xfrm>
            <a:off x="4983480" y="366674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Geofencing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5"/>
          <p:cNvSpPr/>
          <p:nvPr/>
        </p:nvSpPr>
        <p:spPr>
          <a:xfrm>
            <a:off x="4983480" y="388620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PostGIS infrastructure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4846320" y="4187952"/>
            <a:ext cx="3886200" cy="475488"/>
          </a:xfrm>
          <a:prstGeom prst="rect">
            <a:avLst/>
          </a:prstGeom>
          <a:solidFill>
            <a:srgbClr val="5C6B3A">
              <a:alpha val="20000"/>
            </a:srgbClr>
          </a:solidFill>
          <a:ln cap="flat" cmpd="sng" w="9525">
            <a:solidFill>
              <a:srgbClr val="5C6B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4983480" y="4215384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/ SMS Notifications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4983480" y="443484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Twilio / SendGrid webhooks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5C6B3A">
              <a:alpha val="40000"/>
            </a:srgbClr>
          </a:solidFill>
          <a:ln cap="flat" cmpd="sng" w="12700">
            <a:solidFill>
              <a:srgbClr val="5C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5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"FleetPulse can evolve into a smart fleet management ecosystem."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